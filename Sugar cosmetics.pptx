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76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BBD0"/>
    <a:srgbClr val="F8BB70"/>
    <a:srgbClr val="E91E6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2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4FC604-EBFB-4437-BE65-E3FAB8631CEA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E3BEAD-5EBD-4B3A-9A8F-574100E03F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19787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082FF-89B1-BBDE-0BAB-299F6930FA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77545E-0475-84E5-570B-7C586B3D54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2EF8E7-E8A0-4526-9949-00667335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10080-831D-4E80-B0D5-1141F82FDB15}" type="datetime1">
              <a:rPr lang="en-IN" smtClean="0"/>
              <a:t>11-11-2025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C4B5B7-B599-9EB7-D5E8-CA8C2B2A71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EE5BD6-C200-BF1E-1F56-A4E872132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DEF5C-D54D-4C76-BAE0-DFF8199D4A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80527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24A046-8EA7-784E-CC27-FA5C853E52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3F895A-5B4B-82F0-EA9F-3C53B2ECD0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536793-6FA9-8C01-5D8C-9F60D26225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1A25A-F4FA-4032-B210-F410CD90DED8}" type="datetime1">
              <a:rPr lang="en-IN" smtClean="0"/>
              <a:t>11-11-2025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BC3E4A-9D64-DE78-8CB6-8BEF58CEA8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D487D9-B12C-4C4A-9767-4DC0CC951D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DEF5C-D54D-4C76-BAE0-DFF8199D4A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85377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D01033-E398-7B3B-E82B-A47867CDD1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0625B0-7C48-3502-20C5-89FF20B2EC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8CED15-A01C-3D04-E0D8-D78D04CDE1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DB847-380D-4567-B715-B342196D588E}" type="datetime1">
              <a:rPr lang="en-IN" smtClean="0"/>
              <a:t>11-11-2025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9FA9E9-07EE-9BF8-F875-B239D8883B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8A965C-AB85-9945-83DD-6CA7D7652B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DEF5C-D54D-4C76-BAE0-DFF8199D4A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45428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27D52-BE77-244F-5B6A-EB4F4968C7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D2E829-5C28-D5B4-B0F4-A9F3F2D2EB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4F571A-2322-9E17-67BA-B608A2797C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544B19-6D13-868C-299D-08041A1248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6B1C21-4073-499E-A8BF-F833C043379E}" type="datetime1">
              <a:rPr lang="en-IN" smtClean="0"/>
              <a:t>11-11-2025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6772AE-F070-672F-6B2B-63F4C5B48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4CCC85-F53D-375B-83B0-C926F1A18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DEF5C-D54D-4C76-BAE0-DFF8199D4A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03247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DED46-AA71-35D4-3F5C-2449B6CB21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67FD94-C354-21C2-6DAD-4F116CC315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58D5BE-EA33-B744-C433-02549534A9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B6A39F8-3206-4102-3758-2CD5555842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0B05E3-2155-92CD-0025-3439D5F6CA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C06E9D9-482D-ECB3-5659-A54CFDFB2F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6FA8D-0C5B-4574-A1C0-6CCCBE67F101}" type="datetime1">
              <a:rPr lang="en-IN" smtClean="0"/>
              <a:t>11-11-2025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2298623-44A4-23B7-25EF-E39A6C3DC9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7A0711-CA0A-43B3-5F23-6148C4BC1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DEF5C-D54D-4C76-BAE0-DFF8199D4A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11182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EAD3B6-046C-F3FF-CB5A-6BE5B47886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FEDFE9-BD10-2654-6846-8E239750D7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5161A-0670-4E68-A2B6-E138B320FEDD}" type="datetime1">
              <a:rPr lang="en-IN" smtClean="0"/>
              <a:t>11-11-2025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3882D6-C26B-EC5C-8AC4-3F4D4602FC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786562-DBF1-3EC4-95BE-22E0B87F1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DEF5C-D54D-4C76-BAE0-DFF8199D4A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98859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E76FCB3-FBD4-CE1E-4843-FC9804FC9C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C3CD2-847A-4C7C-BBE7-FFDAB93BEE00}" type="datetime1">
              <a:rPr lang="en-IN" smtClean="0"/>
              <a:t>11-11-2025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5296016-FA65-E55F-CDBA-8A9C92E39F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9C9D9A-4B57-F151-D150-B763B980F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DEF5C-D54D-4C76-BAE0-DFF8199D4A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7159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FE0A86-3871-41ED-2D2B-8545365EB0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BA0AB7-75F2-15A7-8B95-C2F6DD71B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B9C417-83CC-FDA9-8D17-36E4A18FBC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5A5340-4A69-CB9B-74FC-B0228D7E72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F9784-CC7E-4168-BE75-BD39790C4DC3}" type="datetime1">
              <a:rPr lang="en-IN" smtClean="0"/>
              <a:t>11-11-2025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FF252A-BAEB-386E-5318-1FF3C53A6B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A36D0B-5AA5-C11C-7AA2-C9CCE943A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DEF5C-D54D-4C76-BAE0-DFF8199D4A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4752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3AD529-5AA0-FF37-2BE7-782E129B58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E4883FE-3858-28B2-93D7-8B958036ED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7BF6B1-2832-4DCC-2F86-2AA2E6D66E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A6A3E5-3DA7-476C-A1E8-E64F8BA940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4A76F-8693-4608-B74A-D591A212A3A3}" type="datetime1">
              <a:rPr lang="en-IN" smtClean="0"/>
              <a:t>11-11-2025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2B83AE-A03E-36A6-4FA0-617E2780CA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94538-15FF-0D85-4983-2FE717884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DEF5C-D54D-4C76-BAE0-DFF8199D4A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41226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20E9E5-16C1-6E2F-5EF2-A4A92F3F3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F70719-51E4-74ED-2A40-F97110A99E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FBDAAA-651C-DA98-420B-5B82CDBDAD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4B45B-4EBC-4541-8E2F-DD248DDE97B7}" type="datetime1">
              <a:rPr lang="en-IN" smtClean="0"/>
              <a:t>11-11-2025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A48AD0-7608-F3E6-D393-09684683D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FC3AEA-3595-3336-7DB7-3C30C93A75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DEF5C-D54D-4C76-BAE0-DFF8199D4A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67305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7552336-1B93-1938-EABB-72B9B2E9E8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BDE1C5-13B1-4441-9C71-9891050AF9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7EA27B-BFF8-7B5C-412B-5CE95EC7C0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076D3B-5E24-44E8-9B41-242B0DD59B03}" type="datetime1">
              <a:rPr lang="en-IN" smtClean="0"/>
              <a:t>11-11-2025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E54932-A5F9-FE5B-B00E-ED28FE8BC6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291977-9E3A-B662-375C-AEEDCD4A60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DEF5C-D54D-4C76-BAE0-DFF8199D4A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42257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0">
              <a:srgbClr val="F8BBD0"/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A5C1DC7-8343-6908-BCFB-A21B54BE81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E34B2A-7297-6BBD-8F51-01B73228DC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DC1DE1-1D6F-13B3-91E1-EA51BF0240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255C3E-5C7B-4E40-8D6B-8F1BA9C6B1F3}" type="datetime1">
              <a:rPr lang="en-IN" smtClean="0"/>
              <a:t>11-11-2025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56D119-5205-EEF0-8588-92305C9544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C5F13C-C23E-F572-4427-6E4EF06D26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3DEF5C-D54D-4C76-BAE0-DFF8199D4A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94617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://www.linkedin.com/in/rupali-jain04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2ECF90D-B34B-4642-1869-7DEC5894B673}"/>
              </a:ext>
            </a:extLst>
          </p:cNvPr>
          <p:cNvSpPr txBox="1"/>
          <p:nvPr/>
        </p:nvSpPr>
        <p:spPr>
          <a:xfrm>
            <a:off x="1991032" y="2519323"/>
            <a:ext cx="820993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/>
              <a:t>Sugar Cosmetics Instagram Performance Dashboard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6CC3E6-6D71-A5CC-B8C8-7D07C65DE30D}"/>
              </a:ext>
            </a:extLst>
          </p:cNvPr>
          <p:cNvSpPr txBox="1"/>
          <p:nvPr/>
        </p:nvSpPr>
        <p:spPr>
          <a:xfrm>
            <a:off x="3824749" y="3837231"/>
            <a:ext cx="4699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By Rupali Jain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DC1A85F4-44CF-6756-3A85-3A3F2F94E5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CA52E-D94E-49D4-9323-96080832207A}" type="datetime1">
              <a:rPr lang="en-IN" smtClean="0">
                <a:solidFill>
                  <a:schemeClr val="tx1"/>
                </a:solidFill>
              </a:rPr>
              <a:t>11-11-2025</a:t>
            </a:fld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83C768-94B7-5514-9CFC-7C22620EA3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DEF5C-D54D-4C76-BAE0-DFF8199D4AD1}" type="slidenum">
              <a:rPr lang="en-IN" smtClean="0">
                <a:solidFill>
                  <a:schemeClr val="tx1"/>
                </a:solidFill>
              </a:rPr>
              <a:t>1</a:t>
            </a:fld>
            <a:endParaRPr lang="en-IN" dirty="0">
              <a:solidFill>
                <a:schemeClr val="tx1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9095159-4DEE-0D22-9779-C1DBEA0151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6747" y="917918"/>
            <a:ext cx="3018503" cy="1340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04643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034EF66-F145-3D58-1F6D-08D6771DA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C3CD2-847A-4C7C-BBE7-FFDAB93BEE00}" type="datetime1">
              <a:rPr lang="en-IN" smtClean="0">
                <a:solidFill>
                  <a:schemeClr val="tx1"/>
                </a:solidFill>
              </a:rPr>
              <a:t>11-11-2025</a:t>
            </a:fld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804B38C-F84E-CBB5-74FA-2D0762B40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DEF5C-D54D-4C76-BAE0-DFF8199D4AD1}" type="slidenum">
              <a:rPr lang="en-IN" smtClean="0">
                <a:solidFill>
                  <a:schemeClr val="tx1"/>
                </a:solidFill>
              </a:rPr>
              <a:t>2</a:t>
            </a:fld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6E173B6-ADC6-A419-8643-F84FFE51250A}"/>
              </a:ext>
            </a:extLst>
          </p:cNvPr>
          <p:cNvSpPr txBox="1"/>
          <p:nvPr/>
        </p:nvSpPr>
        <p:spPr>
          <a:xfrm>
            <a:off x="1809135" y="786581"/>
            <a:ext cx="47489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/>
              <a:t> Agenda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86535B-46E3-A55C-A073-265C8F18942D}"/>
              </a:ext>
            </a:extLst>
          </p:cNvPr>
          <p:cNvSpPr txBox="1"/>
          <p:nvPr/>
        </p:nvSpPr>
        <p:spPr>
          <a:xfrm>
            <a:off x="1641987" y="1858297"/>
            <a:ext cx="90653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6D47C4C-1361-19A3-A581-AF444984726D}"/>
              </a:ext>
            </a:extLst>
          </p:cNvPr>
          <p:cNvSpPr txBox="1"/>
          <p:nvPr/>
        </p:nvSpPr>
        <p:spPr>
          <a:xfrm>
            <a:off x="1809135" y="1740310"/>
            <a:ext cx="763966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/>
              <a:t>Introduction &amp; Objective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/>
              <a:t>My Role &amp; Responsibilities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/>
              <a:t>Dataset Overview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/>
              <a:t>Tools &amp; Techniques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/>
              <a:t>Complete Dashboard Overview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/>
              <a:t>Sheet-by-Sheet Walkthrough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/>
              <a:t>Process Followed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/>
              <a:t>Key Insights &amp; Business Impact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/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29051622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1825EA-B822-0466-046E-C87834B9FC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C3CD2-847A-4C7C-BBE7-FFDAB93BEE00}" type="datetime1">
              <a:rPr lang="en-IN" smtClean="0">
                <a:solidFill>
                  <a:schemeClr val="tx1"/>
                </a:solidFill>
              </a:rPr>
              <a:t>11-11-2025</a:t>
            </a:fld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7FE49B3-40DB-030D-EB5F-E06343C8F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DEF5C-D54D-4C76-BAE0-DFF8199D4AD1}" type="slidenum">
              <a:rPr lang="en-IN" smtClean="0">
                <a:solidFill>
                  <a:schemeClr val="tx1"/>
                </a:solidFill>
              </a:rPr>
              <a:t>3</a:t>
            </a:fld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E74C271-70A9-1E05-6FDC-3A62F2DF286B}"/>
              </a:ext>
            </a:extLst>
          </p:cNvPr>
          <p:cNvSpPr txBox="1"/>
          <p:nvPr/>
        </p:nvSpPr>
        <p:spPr>
          <a:xfrm>
            <a:off x="1556084" y="914400"/>
            <a:ext cx="86787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/>
              <a:t>Project Objective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0F9F24-F061-E6F5-9B1D-2E4B43146EFD}"/>
              </a:ext>
            </a:extLst>
          </p:cNvPr>
          <p:cNvSpPr txBox="1"/>
          <p:nvPr/>
        </p:nvSpPr>
        <p:spPr>
          <a:xfrm>
            <a:off x="1556084" y="1892968"/>
            <a:ext cx="8678779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Analyze Sugar Cosmetics’ Instagram performance to understand audience engagement.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Identify best-performing post types, hashtags, and posting days.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Discover trends to improve reach and interaction.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Present findings through an interactive Tableau dashboard.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212746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03B52B-5D32-DF65-DBF8-17E5D9287D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C3CD2-847A-4C7C-BBE7-FFDAB93BEE00}" type="datetime1">
              <a:rPr lang="en-IN" smtClean="0">
                <a:solidFill>
                  <a:schemeClr val="tx1"/>
                </a:solidFill>
              </a:rPr>
              <a:t>11-11-2025</a:t>
            </a:fld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8018321-2D8F-3D3B-74AF-6AB51ED62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DEF5C-D54D-4C76-BAE0-DFF8199D4AD1}" type="slidenum">
              <a:rPr lang="en-IN" b="1" smtClean="0">
                <a:solidFill>
                  <a:schemeClr val="tx1"/>
                </a:solidFill>
              </a:rPr>
              <a:t>4</a:t>
            </a:fld>
            <a:endParaRPr lang="en-IN" b="1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472DD30-873F-7F2E-135B-A48CEC859376}"/>
              </a:ext>
            </a:extLst>
          </p:cNvPr>
          <p:cNvSpPr txBox="1"/>
          <p:nvPr/>
        </p:nvSpPr>
        <p:spPr>
          <a:xfrm>
            <a:off x="1620253" y="946484"/>
            <a:ext cx="9448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/>
              <a:t>My Role &amp; Responsibilities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FB9D43-BE60-F439-44C4-E6F9AB50CB92}"/>
              </a:ext>
            </a:extLst>
          </p:cNvPr>
          <p:cNvSpPr txBox="1"/>
          <p:nvPr/>
        </p:nvSpPr>
        <p:spPr>
          <a:xfrm>
            <a:off x="1620253" y="2053389"/>
            <a:ext cx="9111915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Cleaned and standardized Instagram dataset in Excel.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Created calculated fields — </a:t>
            </a:r>
            <a:r>
              <a:rPr lang="en-US" sz="2800" i="1" dirty="0"/>
              <a:t>Engagement Rate</a:t>
            </a:r>
            <a:r>
              <a:rPr lang="en-US" sz="2800" dirty="0"/>
              <a:t> and </a:t>
            </a:r>
            <a:r>
              <a:rPr lang="en-US" sz="2800" i="1" dirty="0"/>
              <a:t>Post Label</a:t>
            </a:r>
            <a:r>
              <a:rPr lang="en-US" sz="28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Built Tableau dashboard with filters and KPIs.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Designed visuals: Top Posts, Post Type Performance, Hashtag Analysis, Funnel.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Prepared insights report and project video.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4854693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F3F9483-86D4-C1E6-EBE9-88E218071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C3CD2-847A-4C7C-BBE7-FFDAB93BEE00}" type="datetime1">
              <a:rPr lang="en-IN" smtClean="0">
                <a:solidFill>
                  <a:schemeClr val="tx1"/>
                </a:solidFill>
              </a:rPr>
              <a:t>11-11-2025</a:t>
            </a:fld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FC4080-EA5E-EA04-1878-2052DD6B2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DEF5C-D54D-4C76-BAE0-DFF8199D4AD1}" type="slidenum">
              <a:rPr lang="en-IN" b="1" smtClean="0">
                <a:solidFill>
                  <a:schemeClr val="tx1"/>
                </a:solidFill>
              </a:rPr>
              <a:t>5</a:t>
            </a:fld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DC3E02-ED35-6E56-F117-9EC2017C72AF}"/>
              </a:ext>
            </a:extLst>
          </p:cNvPr>
          <p:cNvSpPr txBox="1"/>
          <p:nvPr/>
        </p:nvSpPr>
        <p:spPr>
          <a:xfrm>
            <a:off x="1138990" y="882316"/>
            <a:ext cx="7924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/>
              <a:t>Dataset Overview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743A84-88D8-74F2-125D-CA213F8CD1EC}"/>
              </a:ext>
            </a:extLst>
          </p:cNvPr>
          <p:cNvSpPr txBox="1"/>
          <p:nvPr/>
        </p:nvSpPr>
        <p:spPr>
          <a:xfrm>
            <a:off x="838200" y="1785321"/>
            <a:ext cx="11036968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/>
              <a:t>Source: Provided by </a:t>
            </a:r>
            <a:r>
              <a:rPr lang="en-IN" sz="2800" dirty="0" err="1"/>
              <a:t>LabMentix</a:t>
            </a:r>
            <a:r>
              <a:rPr lang="en-IN" sz="28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Size: ~350 posts with engagement metrics.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Columns: Post-Date, Post-Type, Likes, Comments, Shares, Saves, Reach, Impressions, Hashtags.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/>
              <a:t>Derived fields:</a:t>
            </a:r>
          </a:p>
          <a:p>
            <a:r>
              <a:rPr lang="en-US" sz="2800" dirty="0"/>
              <a:t>           Engagement Rate = (Likes + Comments + Shares + Saves) /  Reach      </a:t>
            </a:r>
          </a:p>
          <a:p>
            <a:r>
              <a:rPr lang="en-US" sz="2800" dirty="0"/>
              <a:t>           </a:t>
            </a:r>
            <a:r>
              <a:rPr lang="en-IN" sz="2800" dirty="0"/>
              <a:t>Post-Label = Post-Date + Post-Type</a:t>
            </a:r>
            <a:endParaRPr lang="en-US" sz="2800" dirty="0"/>
          </a:p>
          <a:p>
            <a:r>
              <a:rPr lang="en-IN" sz="28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928519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1A1CC8D-850D-F4EA-9638-1E8FE0A8DF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C3CD2-847A-4C7C-BBE7-FFDAB93BEE00}" type="datetime1">
              <a:rPr lang="en-IN" smtClean="0">
                <a:solidFill>
                  <a:schemeClr val="tx1"/>
                </a:solidFill>
              </a:rPr>
              <a:t>11-11-2025</a:t>
            </a:fld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262F4B9-99BB-5126-50AD-DAECD9256C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DEF5C-D54D-4C76-BAE0-DFF8199D4AD1}" type="slidenum">
              <a:rPr lang="en-IN" b="1" smtClean="0">
                <a:solidFill>
                  <a:schemeClr val="tx1"/>
                </a:solidFill>
              </a:rPr>
              <a:t>6</a:t>
            </a:fld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56BDC8A-C572-FB1F-2F6D-DAC1E75E43A5}"/>
              </a:ext>
            </a:extLst>
          </p:cNvPr>
          <p:cNvSpPr txBox="1"/>
          <p:nvPr/>
        </p:nvSpPr>
        <p:spPr>
          <a:xfrm>
            <a:off x="1379621" y="914400"/>
            <a:ext cx="87269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/>
              <a:t>Tools &amp; Techniques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54BCA0-34A3-CF41-9E6E-D4E059A62A3E}"/>
              </a:ext>
            </a:extLst>
          </p:cNvPr>
          <p:cNvSpPr txBox="1"/>
          <p:nvPr/>
        </p:nvSpPr>
        <p:spPr>
          <a:xfrm>
            <a:off x="1379621" y="1989221"/>
            <a:ext cx="8726905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Excel — Data cleaning &amp; helper columns.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/>
              <a:t>Tableau — Dashboard creation &amp; analysis.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Techniques — Filters, Top N filters, Calculated Fields, Tooltips.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Theme — Sugar pink color palette and minimal design.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1736749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426E63E-6725-FA8E-96F3-92E092D441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C3CD2-847A-4C7C-BBE7-FFDAB93BEE00}" type="datetime1">
              <a:rPr lang="en-IN" smtClean="0">
                <a:solidFill>
                  <a:schemeClr val="tx1"/>
                </a:solidFill>
              </a:rPr>
              <a:t>11-11-2025</a:t>
            </a:fld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9E23D76-DE33-7E37-E29F-93745F23E3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DEF5C-D54D-4C76-BAE0-DFF8199D4AD1}" type="slidenum">
              <a:rPr lang="en-IN" b="1" smtClean="0">
                <a:solidFill>
                  <a:schemeClr val="tx1"/>
                </a:solidFill>
              </a:rPr>
              <a:t>7</a:t>
            </a:fld>
            <a:endParaRPr lang="en-IN" b="1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CC7D745-F67D-F480-A90E-4B0A9B04FD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010" y="1502185"/>
            <a:ext cx="11421979" cy="485416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6601C7A-489F-F7E1-2CEF-420590031EB1}"/>
              </a:ext>
            </a:extLst>
          </p:cNvPr>
          <p:cNvSpPr txBox="1"/>
          <p:nvPr/>
        </p:nvSpPr>
        <p:spPr>
          <a:xfrm>
            <a:off x="385010" y="136525"/>
            <a:ext cx="75237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/>
              <a:t>Complete Dashboard Overview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35C9AA-9292-D71F-6B6E-8CDFEDDF0BC7}"/>
              </a:ext>
            </a:extLst>
          </p:cNvPr>
          <p:cNvSpPr txBox="1"/>
          <p:nvPr/>
        </p:nvSpPr>
        <p:spPr>
          <a:xfrm>
            <a:off x="385010" y="828765"/>
            <a:ext cx="102669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/>
              <a:t>Interactive Tableau Dashboard showing KPIs, Trends, and Engagement Insights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8294307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2177195-9DF0-7E79-ED3F-DB5FD4DCA2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C3CD2-847A-4C7C-BBE7-FFDAB93BEE00}" type="datetime1">
              <a:rPr lang="en-IN" smtClean="0">
                <a:solidFill>
                  <a:schemeClr val="tx1"/>
                </a:solidFill>
              </a:rPr>
              <a:t>11-11-2025</a:t>
            </a:fld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D6522D4-4855-7B17-F48E-C7E2E8B930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DEF5C-D54D-4C76-BAE0-DFF8199D4AD1}" type="slidenum">
              <a:rPr lang="en-IN" b="1" smtClean="0">
                <a:solidFill>
                  <a:schemeClr val="tx1"/>
                </a:solidFill>
              </a:rPr>
              <a:t>8</a:t>
            </a:fld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B5A2BFB-E9AC-D473-A0C4-F8125E117A97}"/>
              </a:ext>
            </a:extLst>
          </p:cNvPr>
          <p:cNvSpPr txBox="1"/>
          <p:nvPr/>
        </p:nvSpPr>
        <p:spPr>
          <a:xfrm>
            <a:off x="1203158" y="737937"/>
            <a:ext cx="93365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/>
              <a:t>Sheet 1 :  KPI Overview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EA08CEB-06E9-D72D-DE74-873D99C99B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800491"/>
            <a:ext cx="10760372" cy="105500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D752113-05FB-971D-B963-CBC0D4245479}"/>
              </a:ext>
            </a:extLst>
          </p:cNvPr>
          <p:cNvSpPr txBox="1"/>
          <p:nvPr/>
        </p:nvSpPr>
        <p:spPr>
          <a:xfrm>
            <a:off x="1203158" y="3429000"/>
            <a:ext cx="957713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Shows Total Posts, Total Likes, Total Comments, Total Reach, Avg Engagement Rate.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Snapshot of overall Instagram performance.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9875152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2509CB-CDCE-27E2-5F00-C1B5F8ED0C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C3CD2-847A-4C7C-BBE7-FFDAB93BEE00}" type="datetime1">
              <a:rPr lang="en-IN" smtClean="0">
                <a:solidFill>
                  <a:schemeClr val="tx1"/>
                </a:solidFill>
              </a:rPr>
              <a:t>11-11-2025</a:t>
            </a:fld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96688FA-F99B-1CB2-7DEE-6A0EBEDEE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DEF5C-D54D-4C76-BAE0-DFF8199D4AD1}" type="slidenum">
              <a:rPr lang="en-IN" b="1" smtClean="0">
                <a:solidFill>
                  <a:schemeClr val="tx1"/>
                </a:solidFill>
              </a:rPr>
              <a:t>9</a:t>
            </a:fld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3FF44F-9D33-A518-5C25-6F2658876163}"/>
              </a:ext>
            </a:extLst>
          </p:cNvPr>
          <p:cNvSpPr txBox="1"/>
          <p:nvPr/>
        </p:nvSpPr>
        <p:spPr>
          <a:xfrm>
            <a:off x="838200" y="697364"/>
            <a:ext cx="75077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Sheet 2: Monthly Posting Trend</a:t>
            </a:r>
            <a:endParaRPr lang="en-IN" sz="36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CF966BF-FB5B-9944-952D-A42012FEDF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7284" y="1511614"/>
            <a:ext cx="4379494" cy="32528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8EDE606-0723-A88B-7B8E-80D1FD01CA62}"/>
              </a:ext>
            </a:extLst>
          </p:cNvPr>
          <p:cNvSpPr txBox="1"/>
          <p:nvPr/>
        </p:nvSpPr>
        <p:spPr>
          <a:xfrm>
            <a:off x="838200" y="1844842"/>
            <a:ext cx="6160169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Line chart showing posts per month.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Reveals posting frequency and campaign spikes.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Helps identify seasonal engagement trends.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484440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ED89804-9B84-C879-896D-DC0E342F2B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C3CD2-847A-4C7C-BBE7-FFDAB93BEE00}" type="datetime1">
              <a:rPr lang="en-IN" smtClean="0">
                <a:solidFill>
                  <a:schemeClr val="tx1"/>
                </a:solidFill>
              </a:rPr>
              <a:t>11-11-2025</a:t>
            </a:fld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B2CECD6-5E1A-89C3-F72A-ACFF6A499C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DEF5C-D54D-4C76-BAE0-DFF8199D4AD1}" type="slidenum">
              <a:rPr lang="en-IN" b="1" smtClean="0">
                <a:solidFill>
                  <a:schemeClr val="tx1"/>
                </a:solidFill>
              </a:rPr>
              <a:t>10</a:t>
            </a:fld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BC242CD-4E31-C680-E195-BCE99F79C769}"/>
              </a:ext>
            </a:extLst>
          </p:cNvPr>
          <p:cNvSpPr txBox="1"/>
          <p:nvPr/>
        </p:nvSpPr>
        <p:spPr>
          <a:xfrm>
            <a:off x="838200" y="813501"/>
            <a:ext cx="64930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Sheet 3: Top 10 Posts by Likes</a:t>
            </a:r>
            <a:endParaRPr lang="en-IN" sz="36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7235384-FEF8-0ACA-F3EF-BA0B01CBD0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0822" y="1624171"/>
            <a:ext cx="4480130" cy="355742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DBF8C95-E859-A573-5EB8-1E9CE47069D4}"/>
              </a:ext>
            </a:extLst>
          </p:cNvPr>
          <p:cNvSpPr txBox="1"/>
          <p:nvPr/>
        </p:nvSpPr>
        <p:spPr>
          <a:xfrm>
            <a:off x="838200" y="1874728"/>
            <a:ext cx="557864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Bar chart ranking top 10 posts by Likes (using Post-Label).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Tooltips show Post-Date, Post-Type, Likes, Comments, Reach.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Highlights content that resonated most.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9532538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EB8414B-F813-3C28-8F5B-DA68221D76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C3CD2-847A-4C7C-BBE7-FFDAB93BEE00}" type="datetime1">
              <a:rPr lang="en-IN" smtClean="0">
                <a:solidFill>
                  <a:schemeClr val="tx1"/>
                </a:solidFill>
              </a:rPr>
              <a:t>11-11-2025</a:t>
            </a:fld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3694AFF-5443-102B-FC5E-EC664CADB4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DEF5C-D54D-4C76-BAE0-DFF8199D4AD1}" type="slidenum">
              <a:rPr lang="en-IN" b="1" smtClean="0">
                <a:solidFill>
                  <a:schemeClr val="tx1"/>
                </a:solidFill>
              </a:rPr>
              <a:t>11</a:t>
            </a:fld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98E52C-BA74-E16F-768B-05D0C47EE878}"/>
              </a:ext>
            </a:extLst>
          </p:cNvPr>
          <p:cNvSpPr txBox="1"/>
          <p:nvPr/>
        </p:nvSpPr>
        <p:spPr>
          <a:xfrm>
            <a:off x="645695" y="994610"/>
            <a:ext cx="85785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Sheet 4: Top 10 Post by Engagement Rate</a:t>
            </a:r>
            <a:endParaRPr lang="en-IN" sz="36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EFFEE8C-2E82-C1A6-F54B-71FA2D6024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1453" y="1892856"/>
            <a:ext cx="4387247" cy="381813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1D53C0E-B5DE-A569-7869-2BA4EA7763FB}"/>
              </a:ext>
            </a:extLst>
          </p:cNvPr>
          <p:cNvSpPr txBox="1"/>
          <p:nvPr/>
        </p:nvSpPr>
        <p:spPr>
          <a:xfrm>
            <a:off x="645695" y="2182763"/>
            <a:ext cx="6075947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Displays top 10 posts with highest Engagement %.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Measures depth of audience connection.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1221028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B4E84F5-66CC-87E3-8C98-5726FC814F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C3CD2-847A-4C7C-BBE7-FFDAB93BEE00}" type="datetime1">
              <a:rPr lang="en-IN" smtClean="0">
                <a:solidFill>
                  <a:schemeClr val="tx1"/>
                </a:solidFill>
              </a:rPr>
              <a:t>11-11-2025</a:t>
            </a:fld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D2D1896-9DEF-378C-3914-6A8F6B875C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DEF5C-D54D-4C76-BAE0-DFF8199D4AD1}" type="slidenum">
              <a:rPr lang="en-IN" b="1" smtClean="0">
                <a:solidFill>
                  <a:schemeClr val="tx1"/>
                </a:solidFill>
              </a:rPr>
              <a:t>12</a:t>
            </a:fld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F4D3320-50B6-6B90-098D-7C041314EB1E}"/>
              </a:ext>
            </a:extLst>
          </p:cNvPr>
          <p:cNvSpPr txBox="1"/>
          <p:nvPr/>
        </p:nvSpPr>
        <p:spPr>
          <a:xfrm>
            <a:off x="1010652" y="1087139"/>
            <a:ext cx="88071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/>
              <a:t>Sheet 5: Post Type Performance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C4869C7-8FB6-E311-AD4B-A3B35EDEBA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3327" y="2012990"/>
            <a:ext cx="4379246" cy="388248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37239D5-4572-9677-DBDF-6EA504EB9F21}"/>
              </a:ext>
            </a:extLst>
          </p:cNvPr>
          <p:cNvSpPr txBox="1"/>
          <p:nvPr/>
        </p:nvSpPr>
        <p:spPr>
          <a:xfrm>
            <a:off x="1010652" y="2149642"/>
            <a:ext cx="5582653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Compares average Likes, Comments, Saves across Photos, Reels, Story and Videos.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Reels and Videos show top engagement.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8958252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092E087-D00B-B78E-0BF5-68FEA2D771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C3CD2-847A-4C7C-BBE7-FFDAB93BEE00}" type="datetime1">
              <a:rPr lang="en-IN" smtClean="0">
                <a:solidFill>
                  <a:schemeClr val="tx1"/>
                </a:solidFill>
              </a:rPr>
              <a:t>11-11-2025</a:t>
            </a:fld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77D57CD-1821-696B-D979-E94B22A5B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DEF5C-D54D-4C76-BAE0-DFF8199D4AD1}" type="slidenum">
              <a:rPr lang="en-IN" b="1" smtClean="0">
                <a:solidFill>
                  <a:schemeClr val="tx1"/>
                </a:solidFill>
              </a:rPr>
              <a:t>13</a:t>
            </a:fld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AE0CD51-5562-8AE6-D262-3D8AAD6A2B80}"/>
              </a:ext>
            </a:extLst>
          </p:cNvPr>
          <p:cNvSpPr txBox="1"/>
          <p:nvPr/>
        </p:nvSpPr>
        <p:spPr>
          <a:xfrm>
            <a:off x="978568" y="1122947"/>
            <a:ext cx="85023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Sheet 6: Day of Week Analysis</a:t>
            </a:r>
            <a:endParaRPr lang="en-IN" sz="36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C6BEC31-2D07-36F0-3F97-F705FD47E9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0400" y="1976076"/>
            <a:ext cx="4664768" cy="375897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70699A6-BD76-988A-6554-8937E0684EB5}"/>
              </a:ext>
            </a:extLst>
          </p:cNvPr>
          <p:cNvSpPr txBox="1"/>
          <p:nvPr/>
        </p:nvSpPr>
        <p:spPr>
          <a:xfrm>
            <a:off x="994609" y="2269957"/>
            <a:ext cx="5566611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/>
              <a:t>Engagement Rate by weekday.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Wednesday and Saturday perform best.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/>
              <a:t>Helps plan posting schedules.</a:t>
            </a:r>
          </a:p>
        </p:txBody>
      </p:sp>
    </p:spTree>
    <p:extLst>
      <p:ext uri="{BB962C8B-B14F-4D97-AF65-F5344CB8AC3E}">
        <p14:creationId xmlns:p14="http://schemas.microsoft.com/office/powerpoint/2010/main" val="17125926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268C3E-FF50-4CD7-77A0-BD9D71B5F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C3CD2-847A-4C7C-BBE7-FFDAB93BEE00}" type="datetime1">
              <a:rPr lang="en-IN" smtClean="0">
                <a:solidFill>
                  <a:schemeClr val="tx1"/>
                </a:solidFill>
              </a:rPr>
              <a:t>11-11-2025</a:t>
            </a:fld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08B7A75-316C-7635-95A9-CDD370B8A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DEF5C-D54D-4C76-BAE0-DFF8199D4AD1}" type="slidenum">
              <a:rPr lang="en-IN" b="1" smtClean="0">
                <a:solidFill>
                  <a:schemeClr val="tx1"/>
                </a:solidFill>
              </a:rPr>
              <a:t>14</a:t>
            </a:fld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B29A532-3606-1F0C-8EA2-818407EAFBED}"/>
              </a:ext>
            </a:extLst>
          </p:cNvPr>
          <p:cNvSpPr txBox="1"/>
          <p:nvPr/>
        </p:nvSpPr>
        <p:spPr>
          <a:xfrm>
            <a:off x="962526" y="1219200"/>
            <a:ext cx="78445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/>
              <a:t>Sheet 7: Engagement Funnel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D04CF6-CC1F-5967-E375-C0C43D1C2602}"/>
              </a:ext>
            </a:extLst>
          </p:cNvPr>
          <p:cNvSpPr txBox="1"/>
          <p:nvPr/>
        </p:nvSpPr>
        <p:spPr>
          <a:xfrm>
            <a:off x="962526" y="2313907"/>
            <a:ext cx="606391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/>
              <a:t>Impressions → Reach → Likes → Comments → Shares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Shows audience drop-offs and conversion points.</a:t>
            </a:r>
            <a:endParaRPr lang="en-IN" sz="28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8E4629A-629F-60F1-D2B0-89319937C3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6442" y="1881027"/>
            <a:ext cx="4563717" cy="3757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94244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DE25644-6A8C-7C09-9CEC-77CE7C1078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C3CD2-847A-4C7C-BBE7-FFDAB93BEE00}" type="datetime1">
              <a:rPr lang="en-IN" smtClean="0">
                <a:solidFill>
                  <a:schemeClr val="tx1"/>
                </a:solidFill>
              </a:rPr>
              <a:t>11-11-2025</a:t>
            </a:fld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0F00321-595E-EE7A-88DF-E03D98C54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DEF5C-D54D-4C76-BAE0-DFF8199D4AD1}" type="slidenum">
              <a:rPr lang="en-IN" b="1" smtClean="0">
                <a:solidFill>
                  <a:schemeClr val="tx1"/>
                </a:solidFill>
              </a:rPr>
              <a:t>15</a:t>
            </a:fld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9DF8FC2-8E95-0108-63D3-45E1CE5541F7}"/>
              </a:ext>
            </a:extLst>
          </p:cNvPr>
          <p:cNvSpPr txBox="1"/>
          <p:nvPr/>
        </p:nvSpPr>
        <p:spPr>
          <a:xfrm>
            <a:off x="838200" y="1049529"/>
            <a:ext cx="74555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/>
              <a:t>Sheet 8: Hashtag Analysis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212ACF-9660-0FB6-C574-CD36C13842E9}"/>
              </a:ext>
            </a:extLst>
          </p:cNvPr>
          <p:cNvSpPr txBox="1"/>
          <p:nvPr/>
        </p:nvSpPr>
        <p:spPr>
          <a:xfrm>
            <a:off x="838200" y="2124569"/>
            <a:ext cx="5919536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Ranks hashtags by Engagement &amp; Reach.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Identifies top-performing hashtags (#sugarcosmetics, #makeuplove).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/>
              <a:t>Guides future hashtag strategy.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0F6276E-2021-2E11-725B-6F2ECC2066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1853" y="1695860"/>
            <a:ext cx="4826409" cy="4287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16484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789DD2A-96F6-EC95-5BF4-1E104367F2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C3CD2-847A-4C7C-BBE7-FFDAB93BEE00}" type="datetime1">
              <a:rPr lang="en-IN" smtClean="0">
                <a:solidFill>
                  <a:schemeClr val="tx1"/>
                </a:solidFill>
              </a:rPr>
              <a:t>11-11-2025</a:t>
            </a:fld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9AC26A8-BD1E-EC7A-DDB8-FEF70398A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DEF5C-D54D-4C76-BAE0-DFF8199D4AD1}" type="slidenum">
              <a:rPr lang="en-IN" b="1" smtClean="0">
                <a:solidFill>
                  <a:schemeClr val="tx1"/>
                </a:solidFill>
              </a:rPr>
              <a:t>16</a:t>
            </a:fld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A8ED94-3FD4-B5FE-17D2-E5A6AEBF08FA}"/>
              </a:ext>
            </a:extLst>
          </p:cNvPr>
          <p:cNvSpPr txBox="1"/>
          <p:nvPr/>
        </p:nvSpPr>
        <p:spPr>
          <a:xfrm>
            <a:off x="1251284" y="882316"/>
            <a:ext cx="93365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/>
              <a:t>Process Followed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FF33CA-BEA1-1E17-0686-9B0650730E0E}"/>
              </a:ext>
            </a:extLst>
          </p:cNvPr>
          <p:cNvSpPr txBox="1"/>
          <p:nvPr/>
        </p:nvSpPr>
        <p:spPr>
          <a:xfrm>
            <a:off x="1251284" y="1957137"/>
            <a:ext cx="895149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Cleaned data in Excel (removed duplicates, standardized).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Added calculated fields (Engagement Rate, Post-Label).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/>
              <a:t>Connected Excel to Tableau.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/>
              <a:t>Created visuals (KPI → Hashtag).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/>
              <a:t>Finalized dashboard &amp; insights report.</a:t>
            </a:r>
          </a:p>
          <a:p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8381426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631738-660C-3F4B-99E3-D320A292B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C3CD2-847A-4C7C-BBE7-FFDAB93BEE00}" type="datetime1">
              <a:rPr lang="en-IN" smtClean="0">
                <a:solidFill>
                  <a:schemeClr val="tx1"/>
                </a:solidFill>
              </a:rPr>
              <a:t>11-11-2025</a:t>
            </a:fld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39EBDF9-8822-C5F2-52B1-B90CBB2C5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DEF5C-D54D-4C76-BAE0-DFF8199D4AD1}" type="slidenum">
              <a:rPr lang="en-IN" b="1" smtClean="0">
                <a:solidFill>
                  <a:schemeClr val="tx1"/>
                </a:solidFill>
              </a:rPr>
              <a:t>17</a:t>
            </a:fld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341E14-EA82-68F3-29D5-699113452C5A}"/>
              </a:ext>
            </a:extLst>
          </p:cNvPr>
          <p:cNvSpPr txBox="1"/>
          <p:nvPr/>
        </p:nvSpPr>
        <p:spPr>
          <a:xfrm>
            <a:off x="1299411" y="1052059"/>
            <a:ext cx="77002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/>
              <a:t>Key Insights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74F234-D79F-815C-9440-CFC69992BD4D}"/>
              </a:ext>
            </a:extLst>
          </p:cNvPr>
          <p:cNvSpPr txBox="1"/>
          <p:nvPr/>
        </p:nvSpPr>
        <p:spPr>
          <a:xfrm>
            <a:off x="1299411" y="2053390"/>
            <a:ext cx="9930063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Reels and short video posts gained the highest Likes and Comments.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Engagement rate is noticeably higher during mid-week.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Posts using brand and trending hashtags like #sugarcosmetics and #makeuplove achieved wider reach and better visibility.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Content that was saved or shared more often reflects genuine audience interest.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8147356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C60376A-2E54-3CFB-BCA3-8AA514BBD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C3CD2-847A-4C7C-BBE7-FFDAB93BEE00}" type="datetime1">
              <a:rPr lang="en-IN" smtClean="0">
                <a:solidFill>
                  <a:schemeClr val="tx1"/>
                </a:solidFill>
              </a:rPr>
              <a:t>11-11-2025</a:t>
            </a:fld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ABD370F-76DA-8425-7FE3-C25491F53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DEF5C-D54D-4C76-BAE0-DFF8199D4AD1}" type="slidenum">
              <a:rPr lang="en-IN" b="1" smtClean="0">
                <a:solidFill>
                  <a:schemeClr val="tx1"/>
                </a:solidFill>
              </a:rPr>
              <a:t>18</a:t>
            </a:fld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4BD6779-C258-4958-9653-36648756BECD}"/>
              </a:ext>
            </a:extLst>
          </p:cNvPr>
          <p:cNvSpPr txBox="1"/>
          <p:nvPr/>
        </p:nvSpPr>
        <p:spPr>
          <a:xfrm>
            <a:off x="1427746" y="831865"/>
            <a:ext cx="83258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/>
              <a:t>Business Impact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44D85B-0D5F-2F84-4ADA-4C520DB1E0CF}"/>
              </a:ext>
            </a:extLst>
          </p:cNvPr>
          <p:cNvSpPr txBox="1"/>
          <p:nvPr/>
        </p:nvSpPr>
        <p:spPr>
          <a:xfrm>
            <a:off x="1427746" y="1950080"/>
            <a:ext cx="7716253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Identified optimal posting schedule and content types.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/>
              <a:t>Informed data-driven hashtag strategy.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Boosted awareness of engagement KPIs for marketing team.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7468387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5FE5D01-E60A-D93B-CC5F-20EEF70E10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C3CD2-847A-4C7C-BBE7-FFDAB93BEE00}" type="datetime1">
              <a:rPr lang="en-IN" smtClean="0">
                <a:solidFill>
                  <a:schemeClr val="tx1"/>
                </a:solidFill>
              </a:rPr>
              <a:t>11-11-2025</a:t>
            </a:fld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C0B979F-9EB7-3701-66C6-2054A09E8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DEF5C-D54D-4C76-BAE0-DFF8199D4AD1}" type="slidenum">
              <a:rPr lang="en-IN" b="1" smtClean="0">
                <a:solidFill>
                  <a:schemeClr val="tx1"/>
                </a:solidFill>
              </a:rPr>
              <a:t>19</a:t>
            </a:fld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378D2A-8621-A423-5E9E-21BAB0E4F247}"/>
              </a:ext>
            </a:extLst>
          </p:cNvPr>
          <p:cNvSpPr txBox="1"/>
          <p:nvPr/>
        </p:nvSpPr>
        <p:spPr>
          <a:xfrm>
            <a:off x="1395663" y="1171074"/>
            <a:ext cx="66895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/>
              <a:t>Conclusion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F5E609-0AF8-E919-D299-DE1B9EB9000E}"/>
              </a:ext>
            </a:extLst>
          </p:cNvPr>
          <p:cNvSpPr txBox="1"/>
          <p:nvPr/>
        </p:nvSpPr>
        <p:spPr>
          <a:xfrm>
            <a:off x="1395663" y="2199844"/>
            <a:ext cx="773229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Dashboard enables data-backed marketing strategy.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Future: Add sentiment analysis, reach forecasting.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Continue monthly tracking for improvement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4030119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D637769-045C-720B-5ED3-E92F9CD5E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C3CD2-847A-4C7C-BBE7-FFDAB93BEE00}" type="datetime1">
              <a:rPr lang="en-IN" smtClean="0">
                <a:solidFill>
                  <a:schemeClr val="tx1"/>
                </a:solidFill>
              </a:rPr>
              <a:t>11-11-2025</a:t>
            </a:fld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DDB7C4F-CACF-AA5F-AC57-C7EB7CD9FE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DEF5C-D54D-4C76-BAE0-DFF8199D4AD1}" type="slidenum">
              <a:rPr lang="en-IN" b="1" smtClean="0">
                <a:solidFill>
                  <a:schemeClr val="tx1"/>
                </a:solidFill>
              </a:rPr>
              <a:t>20</a:t>
            </a:fld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529472-A78C-AD73-8A86-D6D81EC97993}"/>
              </a:ext>
            </a:extLst>
          </p:cNvPr>
          <p:cNvSpPr txBox="1"/>
          <p:nvPr/>
        </p:nvSpPr>
        <p:spPr>
          <a:xfrm>
            <a:off x="3096126" y="1796716"/>
            <a:ext cx="59355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/>
              <a:t>Thank You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EBA4D1-04EE-98F9-868B-F841D731DEAB}"/>
              </a:ext>
            </a:extLst>
          </p:cNvPr>
          <p:cNvSpPr txBox="1"/>
          <p:nvPr/>
        </p:nvSpPr>
        <p:spPr>
          <a:xfrm>
            <a:off x="2181726" y="2775284"/>
            <a:ext cx="82777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Connect on LinkedIn for more projects and dashboards.</a:t>
            </a:r>
            <a:endParaRPr lang="en-IN" sz="2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AE0133F-3764-5277-A460-63899D35F3DF}"/>
              </a:ext>
            </a:extLst>
          </p:cNvPr>
          <p:cNvSpPr txBox="1"/>
          <p:nvPr/>
        </p:nvSpPr>
        <p:spPr>
          <a:xfrm>
            <a:off x="4387645" y="3417972"/>
            <a:ext cx="62885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0" i="0" dirty="0">
                <a:effectLst/>
                <a:latin typeface="-apple-system"/>
                <a:hlinkClick r:id="rId2"/>
              </a:rPr>
              <a:t>www.linkedin.com/in/rupali-jain04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65975743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290</TotalTime>
  <Words>656</Words>
  <Application>Microsoft Office PowerPoint</Application>
  <PresentationFormat>Widescreen</PresentationFormat>
  <Paragraphs>128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-apple-system</vt:lpstr>
      <vt:lpstr>Arial</vt:lpstr>
      <vt:lpstr>Calibri</vt:lpstr>
      <vt:lpstr>Calibri Light</vt:lpstr>
      <vt:lpstr>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Rupali Jain</dc:creator>
  <cp:lastModifiedBy>Rupali Jain</cp:lastModifiedBy>
  <cp:revision>1</cp:revision>
  <dcterms:created xsi:type="dcterms:W3CDTF">2025-11-11T11:17:07Z</dcterms:created>
  <dcterms:modified xsi:type="dcterms:W3CDTF">2025-11-11T16:07:59Z</dcterms:modified>
</cp:coreProperties>
</file>